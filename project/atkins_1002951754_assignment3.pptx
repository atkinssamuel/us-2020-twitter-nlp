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8"/>
      <p:bold r:id="rId9"/>
      <p:italic r:id="rId10"/>
      <p:boldItalic r:id="rId11"/>
    </p:embeddedFont>
    <p:embeddedFont>
      <p:font typeface="Lato" panose="020B0604020202020204" charset="0"/>
      <p:regular r:id="rId12"/>
      <p:bold r:id="rId13"/>
      <p:italic r:id="rId14"/>
      <p:boldItalic r:id="rId15"/>
    </p:embeddedFont>
    <p:embeddedFont>
      <p:font typeface="Montserrat" panose="020B0604020202020204" charset="0"/>
      <p:regular r:id="rId16"/>
      <p:bold r:id="rId17"/>
      <p:italic r:id="rId18"/>
      <p:boldItalic r:id="rId19"/>
    </p:embeddedFont>
    <p:embeddedFont>
      <p:font typeface="Syncopate" panose="020B0604020202020204" charset="0"/>
      <p:regular r:id="rId20"/>
      <p:bold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52" y="16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14.fntdata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viewProps" Target="viewProps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ad8d179f95_0_2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ad8d179f95_0_2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ad8d179f95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ad8d179f95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ad8d179f95_0_4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ad8d179f95_0_4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ad8d179f95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ad8d179f95_0_4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ad8d179f95_0_4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ad8d179f95_0_4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84816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900"/>
              <a:t>NLP: Sentiment Analysis and Negative Tweet Reasoning</a:t>
            </a:r>
            <a:endParaRPr sz="3900"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729452" y="280915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Learning Objectives: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 i="1"/>
              <a:t>Text parsing and data cleaning in the context of NLP</a:t>
            </a:r>
            <a:endParaRPr i="1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 i="1"/>
              <a:t>Preliminary data visualization and analysis</a:t>
            </a:r>
            <a:endParaRPr i="1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 i="1"/>
              <a:t>Sentiment prediction for generic tweets and negative reason prediction for US election tweets</a:t>
            </a:r>
            <a:endParaRPr i="1"/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 i="1"/>
              <a:t>Logistic Regression, kNN, Naive Bayes, SVM, Decision Trees, RF, XGBoost</a:t>
            </a:r>
            <a:endParaRPr i="1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 i="1"/>
              <a:t>Result visualization and making data driven inferences</a:t>
            </a:r>
            <a:endParaRPr i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i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Samuel Atkins - November 2020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Cleaning + Exploratory Analysis</a:t>
            </a:r>
            <a:endParaRPr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1"/>
          </p:nvPr>
        </p:nvSpPr>
        <p:spPr>
          <a:xfrm>
            <a:off x="4937200" y="1307850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b="1" dirty="0"/>
              <a:t>Exploratory Data Analysis: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i="1" dirty="0"/>
              <a:t>US Election Tweet </a:t>
            </a:r>
            <a:r>
              <a:rPr lang="en-CA" i="1" dirty="0" err="1"/>
              <a:t>WordCloud</a:t>
            </a:r>
            <a:r>
              <a:rPr lang="en-CA" i="1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CA" i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i="1" dirty="0"/>
          </a:p>
        </p:txBody>
      </p:sp>
      <p:sp>
        <p:nvSpPr>
          <p:cNvPr id="142" name="Google Shape;142;p14"/>
          <p:cNvSpPr txBox="1">
            <a:spLocks noGrp="1"/>
          </p:cNvSpPr>
          <p:nvPr>
            <p:ph type="body" idx="2"/>
          </p:nvPr>
        </p:nvSpPr>
        <p:spPr>
          <a:xfrm>
            <a:off x="643273" y="1347362"/>
            <a:ext cx="3774300" cy="308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Original Dataset Size:</a:t>
            </a:r>
            <a:r>
              <a:rPr lang="en" dirty="0"/>
              <a:t> </a:t>
            </a:r>
            <a:br>
              <a:rPr lang="en" i="1" dirty="0"/>
            </a:br>
            <a:r>
              <a:rPr lang="en" i="1" dirty="0"/>
              <a:t>Sentiment: 550391, 3          US Elections: 2552, 3</a:t>
            </a:r>
            <a:endParaRPr i="1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Text Data Parsing Example:</a:t>
            </a:r>
            <a:br>
              <a:rPr lang="en" dirty="0"/>
            </a:br>
            <a:r>
              <a:rPr lang="en" dirty="0"/>
              <a:t>Original Text:</a:t>
            </a: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br>
              <a:rPr lang="en" dirty="0"/>
            </a:br>
            <a:br>
              <a:rPr lang="en" dirty="0"/>
            </a:br>
            <a:r>
              <a:rPr lang="en-CA" dirty="0"/>
              <a:t>Parsed Text:</a:t>
            </a: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143" name="Google Shape;143;p14"/>
          <p:cNvSpPr/>
          <p:nvPr/>
        </p:nvSpPr>
        <p:spPr>
          <a:xfrm>
            <a:off x="746875" y="813875"/>
            <a:ext cx="7803500" cy="4155475"/>
          </a:xfrm>
          <a:custGeom>
            <a:avLst/>
            <a:gdLst/>
            <a:ahLst/>
            <a:cxnLst/>
            <a:rect l="l" t="t" r="r" b="b"/>
            <a:pathLst>
              <a:path w="312140" h="166219" extrusionOk="0">
                <a:moveTo>
                  <a:pt x="312140" y="0"/>
                </a:moveTo>
                <a:lnTo>
                  <a:pt x="151665" y="15319"/>
                </a:lnTo>
                <a:lnTo>
                  <a:pt x="151665" y="151665"/>
                </a:lnTo>
                <a:lnTo>
                  <a:pt x="0" y="166219"/>
                </a:ln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D7CBDB-DE1A-49E0-A9D0-3785E584B54A}"/>
              </a:ext>
            </a:extLst>
          </p:cNvPr>
          <p:cNvSpPr/>
          <p:nvPr/>
        </p:nvSpPr>
        <p:spPr>
          <a:xfrm>
            <a:off x="746876" y="2624685"/>
            <a:ext cx="3597319" cy="95410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>
            <a:spAutoFit/>
          </a:bodyPr>
          <a:lstStyle/>
          <a:p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</a:rPr>
              <a:t>"b\"RT @MelissaTweets: I didn't think all the freak out was about control in the beginning of \#Covid.\n\nNow, it's clear that's ALL it's'"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5B313B-6E30-4B4A-A239-E145E693AB67}"/>
              </a:ext>
            </a:extLst>
          </p:cNvPr>
          <p:cNvSpPr/>
          <p:nvPr/>
        </p:nvSpPr>
        <p:spPr>
          <a:xfrm>
            <a:off x="746875" y="3978382"/>
            <a:ext cx="3597319" cy="3077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>
            <a:spAutoFit/>
          </a:bodyPr>
          <a:lstStyle/>
          <a:p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</a:rPr>
              <a:t>['</a:t>
            </a:r>
            <a:r>
              <a:rPr lang="en-US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didnt</a:t>
            </a:r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</a:rPr>
              <a:t>', 'freak', '</a:t>
            </a:r>
            <a:r>
              <a:rPr lang="en-US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wa</a:t>
            </a:r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</a:rPr>
              <a:t>', 'control', '</a:t>
            </a:r>
            <a:r>
              <a:rPr lang="en-US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covid</a:t>
            </a:r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</a:rPr>
              <a:t>', 'clear']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297F6-3354-479B-AE9C-C9C263DA7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600" y="1952763"/>
            <a:ext cx="3536775" cy="267620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Preparation, Implementation, &amp; Results: Sentiment Analysis</a:t>
            </a:r>
            <a:endParaRPr dirty="0"/>
          </a:p>
        </p:txBody>
      </p:sp>
      <p:cxnSp>
        <p:nvCxnSpPr>
          <p:cNvPr id="150" name="Google Shape;150;p15"/>
          <p:cNvCxnSpPr>
            <a:cxnSpLocks/>
            <a:stCxn id="148" idx="0"/>
          </p:cNvCxnSpPr>
          <p:nvPr/>
        </p:nvCxnSpPr>
        <p:spPr>
          <a:xfrm rot="-5400000" flipH="1">
            <a:off x="2774850" y="2435850"/>
            <a:ext cx="4084800" cy="600"/>
          </a:xfrm>
          <a:prstGeom prst="bentConnector5">
            <a:avLst>
              <a:gd name="adj1" fmla="val -5830"/>
              <a:gd name="adj2" fmla="val -626262500"/>
              <a:gd name="adj3" fmla="val 105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15"/>
          <p:cNvCxnSpPr>
            <a:stCxn id="148" idx="0"/>
            <a:endCxn id="148" idx="3"/>
          </p:cNvCxnSpPr>
          <p:nvPr/>
        </p:nvCxnSpPr>
        <p:spPr>
          <a:xfrm rot="-5400000" flipH="1">
            <a:off x="6348150" y="-1137450"/>
            <a:ext cx="457200" cy="3519600"/>
          </a:xfrm>
          <a:prstGeom prst="curvedConnector4">
            <a:avLst>
              <a:gd name="adj1" fmla="val 50005"/>
              <a:gd name="adj2" fmla="val 106761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52;p15"/>
          <p:cNvCxnSpPr/>
          <p:nvPr/>
        </p:nvCxnSpPr>
        <p:spPr>
          <a:xfrm rot="5400000">
            <a:off x="6491700" y="2709575"/>
            <a:ext cx="3676800" cy="384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3" name="Google Shape;153;p15"/>
          <p:cNvCxnSpPr>
            <a:cxnSpLocks/>
          </p:cNvCxnSpPr>
          <p:nvPr/>
        </p:nvCxnSpPr>
        <p:spPr>
          <a:xfrm rot="10800000">
            <a:off x="4816950" y="4478675"/>
            <a:ext cx="3494100" cy="885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CEC36-BECE-4A57-BE2E-15591FC72A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3111" y="1273175"/>
            <a:ext cx="3599139" cy="2911200"/>
          </a:xfrm>
        </p:spPr>
        <p:txBody>
          <a:bodyPr/>
          <a:lstStyle/>
          <a:p>
            <a:pPr marL="146050" indent="0">
              <a:buNone/>
            </a:pPr>
            <a:r>
              <a:rPr lang="en-CA" b="1" dirty="0"/>
              <a:t>1.      Words Vectorized</a:t>
            </a:r>
          </a:p>
          <a:p>
            <a:pPr>
              <a:buFontTx/>
              <a:buChar char="-"/>
            </a:pPr>
            <a:r>
              <a:rPr lang="en-CA" dirty="0"/>
              <a:t>Both </a:t>
            </a:r>
            <a:r>
              <a:rPr lang="en-CA" dirty="0" err="1"/>
              <a:t>BoW</a:t>
            </a:r>
            <a:r>
              <a:rPr lang="en-CA" dirty="0"/>
              <a:t> and TF-IDF were implemented</a:t>
            </a:r>
          </a:p>
          <a:p>
            <a:pPr>
              <a:buFontTx/>
              <a:buChar char="-"/>
            </a:pPr>
            <a:endParaRPr lang="en-CA" dirty="0"/>
          </a:p>
          <a:p>
            <a:pPr marL="146050" indent="0">
              <a:buNone/>
            </a:pPr>
            <a:r>
              <a:rPr lang="en-CA" b="1" dirty="0"/>
              <a:t>2.      Data Split 70/30</a:t>
            </a:r>
          </a:p>
          <a:p>
            <a:pPr marL="488950" indent="-342900">
              <a:buAutoNum type="arabicPeriod" startAt="2"/>
            </a:pPr>
            <a:endParaRPr lang="en-CA" dirty="0"/>
          </a:p>
          <a:p>
            <a:pPr marL="146050" indent="0">
              <a:buNone/>
            </a:pPr>
            <a:r>
              <a:rPr lang="en-CA" b="1" dirty="0"/>
              <a:t>3.      Models Implemented</a:t>
            </a:r>
          </a:p>
          <a:p>
            <a:pPr>
              <a:buFontTx/>
              <a:buChar char="-"/>
            </a:pPr>
            <a:r>
              <a:rPr lang="en-CA" dirty="0"/>
              <a:t>Logistic Regression, </a:t>
            </a:r>
            <a:r>
              <a:rPr lang="en-CA" dirty="0" err="1"/>
              <a:t>kNN</a:t>
            </a:r>
            <a:r>
              <a:rPr lang="en-CA" dirty="0"/>
              <a:t>, Naïve Bayes, SVM, Random Forest, </a:t>
            </a:r>
            <a:r>
              <a:rPr lang="en-CA" dirty="0" err="1"/>
              <a:t>XGBoost</a:t>
            </a:r>
            <a:r>
              <a:rPr lang="en-CA" dirty="0"/>
              <a:t> implemented</a:t>
            </a:r>
          </a:p>
          <a:p>
            <a:pPr>
              <a:buFontTx/>
              <a:buChar char="-"/>
            </a:pPr>
            <a:r>
              <a:rPr lang="en-CA" dirty="0"/>
              <a:t>2000 features used</a:t>
            </a:r>
          </a:p>
          <a:p>
            <a:pPr marL="146050" indent="0">
              <a:buNone/>
            </a:pPr>
            <a:endParaRPr lang="en-CA" dirty="0"/>
          </a:p>
          <a:p>
            <a:pPr marL="488950" indent="-342900">
              <a:buAutoNum type="arabicPeriod"/>
            </a:pPr>
            <a:endParaRPr lang="en-CA" dirty="0"/>
          </a:p>
          <a:p>
            <a:pPr marL="488950" indent="-342900">
              <a:buAutoNum type="arabicPeriod"/>
            </a:pPr>
            <a:endParaRPr lang="en-CA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B69A5CA-B1F1-47FE-983B-A003C0AE4353}"/>
              </a:ext>
            </a:extLst>
          </p:cNvPr>
          <p:cNvSpPr txBox="1">
            <a:spLocks/>
          </p:cNvSpPr>
          <p:nvPr/>
        </p:nvSpPr>
        <p:spPr>
          <a:xfrm>
            <a:off x="4664566" y="1273050"/>
            <a:ext cx="3599139" cy="29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146050" indent="0">
              <a:buFont typeface="Lato"/>
              <a:buNone/>
            </a:pPr>
            <a:endParaRPr lang="en-CA" b="1" dirty="0"/>
          </a:p>
          <a:p>
            <a:pPr marL="146050" indent="0">
              <a:buFont typeface="Lato"/>
              <a:buNone/>
            </a:pPr>
            <a:r>
              <a:rPr lang="en-CA" b="1" dirty="0"/>
              <a:t>Optimal Model:</a:t>
            </a:r>
          </a:p>
          <a:p>
            <a:pPr marL="146050" indent="0">
              <a:buFont typeface="Lato"/>
              <a:buNone/>
            </a:pPr>
            <a:r>
              <a:rPr lang="en-CA" dirty="0"/>
              <a:t>Logistic Regression Model:</a:t>
            </a:r>
          </a:p>
          <a:p>
            <a:pPr>
              <a:buFontTx/>
              <a:buChar char="-"/>
            </a:pPr>
            <a:r>
              <a:rPr lang="en-CA" dirty="0"/>
              <a:t> C = 1</a:t>
            </a:r>
          </a:p>
          <a:p>
            <a:pPr>
              <a:buFontTx/>
              <a:buChar char="-"/>
            </a:pPr>
            <a:r>
              <a:rPr lang="en-CA" dirty="0"/>
              <a:t> penalty = “l2”</a:t>
            </a:r>
          </a:p>
          <a:p>
            <a:pPr>
              <a:buFontTx/>
              <a:buChar char="-"/>
            </a:pPr>
            <a:r>
              <a:rPr lang="en-CA" dirty="0" err="1"/>
              <a:t>class_weight</a:t>
            </a:r>
            <a:r>
              <a:rPr lang="en-CA" dirty="0"/>
              <a:t> = None</a:t>
            </a:r>
          </a:p>
          <a:p>
            <a:pPr marL="146050" indent="0">
              <a:buNone/>
            </a:pPr>
            <a:endParaRPr lang="en-CA" dirty="0"/>
          </a:p>
          <a:p>
            <a:pPr marL="146050" indent="0">
              <a:buFont typeface="Lato"/>
              <a:buNone/>
            </a:pPr>
            <a:endParaRPr lang="en-CA" dirty="0"/>
          </a:p>
          <a:p>
            <a:pPr marL="146050" indent="0">
              <a:buFont typeface="Lato"/>
              <a:buNone/>
            </a:pPr>
            <a:endParaRPr lang="en-CA" dirty="0"/>
          </a:p>
          <a:p>
            <a:pPr marL="146050" indent="0">
              <a:buFont typeface="Lato"/>
              <a:buNone/>
            </a:pPr>
            <a:endParaRPr lang="en-CA" dirty="0"/>
          </a:p>
          <a:p>
            <a:pPr marL="488950" indent="-342900">
              <a:buFont typeface="Lato"/>
              <a:buAutoNum type="arabicPeriod"/>
            </a:pPr>
            <a:endParaRPr lang="en-CA" dirty="0"/>
          </a:p>
          <a:p>
            <a:pPr marL="488950" indent="-342900">
              <a:buFont typeface="Lato"/>
              <a:buAutoNum type="arabicPeriod"/>
            </a:pP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032BC0-FC84-49FC-A3ED-F16015E68686}"/>
              </a:ext>
            </a:extLst>
          </p:cNvPr>
          <p:cNvSpPr txBox="1"/>
          <p:nvPr/>
        </p:nvSpPr>
        <p:spPr>
          <a:xfrm>
            <a:off x="4802250" y="3014699"/>
            <a:ext cx="3226947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400" b="1" dirty="0">
                <a:solidFill>
                  <a:schemeClr val="tx1"/>
                </a:solidFill>
                <a:latin typeface="Consolas" panose="020B0609020204030204" pitchFamily="49" charset="0"/>
                <a:ea typeface="var(--jp-code-font-family)"/>
              </a:rPr>
              <a:t>Model accuracy on general tweet validation set: </a:t>
            </a:r>
            <a:r>
              <a:rPr lang="en-US" altLang="en-US" sz="1400" b="1" dirty="0">
                <a:solidFill>
                  <a:schemeClr val="tx2">
                    <a:lumMod val="50000"/>
                  </a:schemeClr>
                </a:solidFill>
                <a:latin typeface="Consolas" panose="020B0609020204030204" pitchFamily="49" charset="0"/>
                <a:ea typeface="var(--jp-code-font-family)"/>
              </a:rPr>
              <a:t>93.022%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b="1" dirty="0">
              <a:solidFill>
                <a:schemeClr val="tx1"/>
              </a:solidFill>
              <a:latin typeface="Consolas" panose="020B0609020204030204" pitchFamily="49" charset="0"/>
              <a:ea typeface="var(--jp-code-font-family)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400" b="1" dirty="0">
                <a:solidFill>
                  <a:schemeClr val="tx1"/>
                </a:solidFill>
                <a:latin typeface="Consolas" panose="020B0609020204030204" pitchFamily="49" charset="0"/>
                <a:ea typeface="var(--jp-code-font-family)"/>
              </a:rPr>
              <a:t>Model accuracy on tweet test set: </a:t>
            </a:r>
            <a:r>
              <a:rPr lang="en-US" altLang="en-US" sz="1400" b="1" dirty="0">
                <a:solidFill>
                  <a:schemeClr val="tx2">
                    <a:lumMod val="50000"/>
                  </a:schemeClr>
                </a:solidFill>
                <a:latin typeface="Consolas" panose="020B0609020204030204" pitchFamily="49" charset="0"/>
                <a:ea typeface="var(--jp-code-font-family)"/>
              </a:rPr>
              <a:t>93.002%</a:t>
            </a:r>
            <a:r>
              <a:rPr lang="en-US" altLang="en-US" sz="1400" b="1" dirty="0">
                <a:solidFill>
                  <a:schemeClr val="tx1"/>
                </a:solidFill>
                <a:latin typeface="Consolas" panose="020B0609020204030204" pitchFamily="49" charset="0"/>
                <a:ea typeface="var(--jp-code-font-family)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400" b="1" dirty="0">
              <a:solidFill>
                <a:schemeClr val="tx1"/>
              </a:solidFill>
              <a:latin typeface="Consolas" panose="020B0609020204030204" pitchFamily="49" charset="0"/>
              <a:ea typeface="var(--jp-code-font-family)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400" b="1" dirty="0">
                <a:solidFill>
                  <a:schemeClr val="tx1"/>
                </a:solidFill>
                <a:latin typeface="Consolas" panose="020B0609020204030204" pitchFamily="49" charset="0"/>
                <a:ea typeface="var(--jp-code-font-family)"/>
              </a:rPr>
              <a:t>Model accuracy on US election tweet test set: </a:t>
            </a:r>
            <a:r>
              <a:rPr lang="en-US" altLang="en-US" sz="1400" b="1" dirty="0">
                <a:solidFill>
                  <a:schemeClr val="tx2">
                    <a:lumMod val="50000"/>
                  </a:schemeClr>
                </a:solidFill>
                <a:latin typeface="Consolas" panose="020B0609020204030204" pitchFamily="49" charset="0"/>
                <a:ea typeface="var(--jp-code-font-family)"/>
              </a:rPr>
              <a:t>63.708%</a:t>
            </a:r>
            <a:r>
              <a:rPr lang="en-US" altLang="en-US" sz="1400" b="1" dirty="0">
                <a:solidFill>
                  <a:schemeClr val="tx2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Preparation, Implementation, &amp; Results: Negative Reason Prediction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7D9247-EFE9-4A9F-BF8E-C9E6F5EF7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5905" y="1552035"/>
            <a:ext cx="3403200" cy="2911200"/>
          </a:xfrm>
        </p:spPr>
        <p:txBody>
          <a:bodyPr/>
          <a:lstStyle/>
          <a:p>
            <a:pPr marL="146050" indent="0">
              <a:buNone/>
            </a:pPr>
            <a:r>
              <a:rPr lang="en-CA" b="1" dirty="0"/>
              <a:t>Three different models implemented:</a:t>
            </a:r>
          </a:p>
          <a:p>
            <a:pPr>
              <a:buFontTx/>
              <a:buChar char="-"/>
            </a:pPr>
            <a:r>
              <a:rPr lang="en-CA" i="1" dirty="0"/>
              <a:t>Logistic Regression</a:t>
            </a:r>
          </a:p>
          <a:p>
            <a:pPr>
              <a:buFontTx/>
              <a:buChar char="-"/>
            </a:pPr>
            <a:r>
              <a:rPr lang="en-CA" i="1" dirty="0" err="1"/>
              <a:t>LinearSVC</a:t>
            </a:r>
            <a:endParaRPr lang="en-CA" i="1" dirty="0"/>
          </a:p>
          <a:p>
            <a:pPr>
              <a:buFontTx/>
              <a:buChar char="-"/>
            </a:pPr>
            <a:r>
              <a:rPr lang="en-CA" i="1" dirty="0"/>
              <a:t>Random Forest</a:t>
            </a:r>
          </a:p>
          <a:p>
            <a:pPr>
              <a:buFontTx/>
              <a:buChar char="-"/>
            </a:pPr>
            <a:endParaRPr lang="en-CA" dirty="0"/>
          </a:p>
          <a:p>
            <a:pPr marL="146050" indent="0">
              <a:buNone/>
            </a:pPr>
            <a:r>
              <a:rPr lang="en-CA" dirty="0"/>
              <a:t>Hyper-parameter tuning with 10-fold cross-validation was performed</a:t>
            </a:r>
          </a:p>
          <a:p>
            <a:pPr marL="146050" indent="0">
              <a:buNone/>
            </a:pPr>
            <a:endParaRPr lang="en-CA" dirty="0"/>
          </a:p>
          <a:p>
            <a:pPr marL="146050" indent="0">
              <a:buNone/>
            </a:pPr>
            <a:r>
              <a:rPr lang="en-CA" sz="1400" b="1" dirty="0"/>
              <a:t>Optimal Model:</a:t>
            </a:r>
          </a:p>
          <a:p>
            <a:pPr marL="146050" indent="0">
              <a:buNone/>
            </a:pP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6D5177-FF8D-4142-AC10-54AC2E55F17F}"/>
              </a:ext>
            </a:extLst>
          </p:cNvPr>
          <p:cNvSpPr txBox="1"/>
          <p:nvPr/>
        </p:nvSpPr>
        <p:spPr>
          <a:xfrm>
            <a:off x="560614" y="3816904"/>
            <a:ext cx="2371365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ea typeface="var(--jp-code-font-family)"/>
              </a:rPr>
              <a:t>Random Forest Classifier: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-"/>
            </a:pPr>
            <a:r>
              <a:rPr lang="en-US" altLang="en-US" sz="1200" dirty="0" err="1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</a:rPr>
              <a:t>n_estimators</a:t>
            </a:r>
            <a:r>
              <a:rPr lang="en-US" altLang="en-US" sz="1200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</a:rPr>
              <a:t>=1000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-"/>
            </a:pPr>
            <a:r>
              <a:rPr lang="en-US" altLang="en-US" sz="1200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</a:rPr>
              <a:t>criterion=“</a:t>
            </a:r>
            <a:r>
              <a:rPr lang="en-US" altLang="en-US" sz="1200" dirty="0" err="1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</a:rPr>
              <a:t>gini</a:t>
            </a:r>
            <a:r>
              <a:rPr lang="en-US" altLang="en-US" sz="1200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</a:rPr>
              <a:t>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BD18D-2338-4AD0-84F7-E4974D49DDBD}"/>
              </a:ext>
            </a:extLst>
          </p:cNvPr>
          <p:cNvSpPr txBox="1"/>
          <p:nvPr/>
        </p:nvSpPr>
        <p:spPr>
          <a:xfrm>
            <a:off x="560614" y="4588180"/>
            <a:ext cx="3178491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Model Accuracy on Test Set: </a:t>
            </a:r>
            <a:r>
              <a:rPr lang="en-US" altLang="en-US" sz="1200" dirty="0">
                <a:solidFill>
                  <a:schemeClr val="tx2">
                    <a:lumMod val="50000"/>
                  </a:schemeClr>
                </a:solidFill>
                <a:latin typeface="Consolas" panose="020B0609020204030204" pitchFamily="49" charset="0"/>
              </a:rPr>
              <a:t>33.421%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8FB04A-A4F8-495F-B1A2-492C274F1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3814" y="2839305"/>
            <a:ext cx="3499403" cy="19104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E2CA27-9341-4BAB-8DA9-94F7519863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572" y="1327126"/>
            <a:ext cx="1121522" cy="25085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028F632-48B0-4652-A8DC-B1CF21E1F387}"/>
              </a:ext>
            </a:extLst>
          </p:cNvPr>
          <p:cNvSpPr txBox="1"/>
          <p:nvPr/>
        </p:nvSpPr>
        <p:spPr>
          <a:xfrm>
            <a:off x="3879614" y="1417203"/>
            <a:ext cx="366644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CA" sz="1200" dirty="0">
                <a:solidFill>
                  <a:schemeClr val="bg1"/>
                </a:solidFill>
                <a:latin typeface="Lato" panose="020B0604020202020204" charset="0"/>
              </a:rPr>
              <a:t>Recall is very low for all classes except for the “covid19” class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CA" sz="1200" dirty="0">
                <a:solidFill>
                  <a:schemeClr val="bg1"/>
                </a:solidFill>
                <a:latin typeface="Lato" panose="020B0604020202020204" charset="0"/>
              </a:rPr>
              <a:t>This is due to the imbalanced nature of the dataset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CA" sz="1200" dirty="0">
                <a:solidFill>
                  <a:schemeClr val="bg1"/>
                </a:solidFill>
                <a:latin typeface="Lato" panose="020B0604020202020204" charset="0"/>
              </a:rPr>
              <a:t>If the model simply predicted the mode then it would obtain an accuracy of 33.5%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Possible Improvements + Rebalancing Bonus</a:t>
            </a:r>
            <a:endParaRPr dirty="0"/>
          </a:p>
        </p:txBody>
      </p:sp>
      <p:sp>
        <p:nvSpPr>
          <p:cNvPr id="167" name="Google Shape;167;p17"/>
          <p:cNvSpPr txBox="1">
            <a:spLocks noGrp="1"/>
          </p:cNvSpPr>
          <p:nvPr>
            <p:ph type="body" idx="1"/>
          </p:nvPr>
        </p:nvSpPr>
        <p:spPr>
          <a:xfrm>
            <a:off x="1297500" y="1025175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CA" sz="1400" b="1" dirty="0"/>
              <a:t>Improving the accuracy of the sentiment analysis model:</a:t>
            </a:r>
            <a:br>
              <a:rPr lang="en-CA" dirty="0"/>
            </a:br>
            <a:r>
              <a:rPr lang="en-CA" sz="1200" dirty="0"/>
              <a:t>- Implement a learned model that takes as input a sequence of word inputs represented by </a:t>
            </a:r>
            <a:r>
              <a:rPr lang="en-CA" sz="1200" dirty="0" err="1"/>
              <a:t>GloVe</a:t>
            </a:r>
            <a:r>
              <a:rPr lang="en-CA" sz="1200" dirty="0"/>
              <a:t> vectors</a:t>
            </a:r>
            <a:br>
              <a:rPr lang="en-CA" sz="1200" dirty="0"/>
            </a:br>
            <a:r>
              <a:rPr lang="en-CA" sz="1200" dirty="0"/>
              <a:t>- Rebalance the dataset so that the positive and negative sentiments appeared approximately the same number of times</a:t>
            </a:r>
            <a:br>
              <a:rPr lang="en-CA" sz="1200" dirty="0"/>
            </a:br>
            <a:r>
              <a:rPr lang="en-CA" sz="1200" dirty="0"/>
              <a:t>   - This was implemented as a bonus:</a:t>
            </a:r>
            <a:br>
              <a:rPr lang="en-CA" dirty="0"/>
            </a:br>
            <a:r>
              <a:rPr lang="en-CA" dirty="0"/>
              <a:t>	</a:t>
            </a:r>
            <a:br>
              <a:rPr lang="en-CA" dirty="0"/>
            </a:br>
            <a:endParaRPr lang="en-CA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CA" sz="1400" b="1" dirty="0"/>
              <a:t>Improving the accuracy of the negative reason predictor:</a:t>
            </a:r>
            <a:br>
              <a:rPr lang="en-CA" dirty="0"/>
            </a:br>
            <a:r>
              <a:rPr lang="en-CA" sz="1200" dirty="0"/>
              <a:t>- Increase the number of data points because the size of this dataset is very small compared to the generic tweet dataset</a:t>
            </a:r>
            <a:br>
              <a:rPr lang="en-CA" sz="1200" dirty="0"/>
            </a:br>
            <a:r>
              <a:rPr lang="en-CA" sz="1200" dirty="0"/>
              <a:t>- Up-sample/down-sample the non-COVID/COVID negative reason tweets to obtain a more balanced dataset resulting in better recall for the other classes</a:t>
            </a:r>
          </a:p>
        </p:txBody>
      </p:sp>
      <p:sp>
        <p:nvSpPr>
          <p:cNvPr id="168" name="Google Shape;168;p17"/>
          <p:cNvSpPr txBox="1"/>
          <p:nvPr/>
        </p:nvSpPr>
        <p:spPr>
          <a:xfrm>
            <a:off x="6644950" y="507475"/>
            <a:ext cx="1388400" cy="15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0" dirty="0">
              <a:solidFill>
                <a:srgbClr val="FFFFFF"/>
              </a:solidFill>
              <a:latin typeface="Syncopate"/>
              <a:ea typeface="Syncopate"/>
              <a:cs typeface="Syncopate"/>
              <a:sym typeface="Syncopate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E9A37-6E34-4CC7-B3EF-1B7A73FAD728}"/>
              </a:ext>
            </a:extLst>
          </p:cNvPr>
          <p:cNvSpPr txBox="1"/>
          <p:nvPr/>
        </p:nvSpPr>
        <p:spPr>
          <a:xfrm>
            <a:off x="1902016" y="2734485"/>
            <a:ext cx="5829867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CA" sz="1200" dirty="0">
                <a:latin typeface="Consolas" panose="020B0609020204030204" pitchFamily="49" charset="0"/>
              </a:rPr>
              <a:t>Negative sentiment recall increased from </a:t>
            </a:r>
            <a:r>
              <a:rPr lang="en-CA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0.88</a:t>
            </a:r>
            <a:r>
              <a:rPr lang="en-CA" sz="1200" dirty="0">
                <a:latin typeface="Consolas" panose="020B0609020204030204" pitchFamily="49" charset="0"/>
              </a:rPr>
              <a:t> to </a:t>
            </a:r>
            <a:r>
              <a:rPr lang="en-CA" sz="1200" dirty="0">
                <a:solidFill>
                  <a:schemeClr val="tx2">
                    <a:lumMod val="50000"/>
                  </a:schemeClr>
                </a:solidFill>
                <a:latin typeface="Consolas" panose="020B0609020204030204" pitchFamily="49" charset="0"/>
              </a:rPr>
              <a:t>0.91</a:t>
            </a:r>
            <a:br>
              <a:rPr lang="en-CA" sz="1200" dirty="0">
                <a:latin typeface="Consolas" panose="020B0609020204030204" pitchFamily="49" charset="0"/>
              </a:rPr>
            </a:br>
            <a:endParaRPr lang="en-CA" sz="1200" dirty="0"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CA" sz="1200" dirty="0">
                <a:latin typeface="Consolas" panose="020B0609020204030204" pitchFamily="49" charset="0"/>
              </a:rPr>
              <a:t>Model accuracy on tweet test set increased from </a:t>
            </a:r>
            <a:r>
              <a:rPr lang="en-CA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93.002% </a:t>
            </a:r>
            <a:r>
              <a:rPr lang="en-CA" sz="1200" dirty="0">
                <a:latin typeface="Consolas" panose="020B0609020204030204" pitchFamily="49" charset="0"/>
              </a:rPr>
              <a:t>to </a:t>
            </a:r>
            <a:r>
              <a:rPr lang="en-CA" sz="1200" dirty="0">
                <a:solidFill>
                  <a:schemeClr val="tx2">
                    <a:lumMod val="50000"/>
                  </a:schemeClr>
                </a:solidFill>
                <a:latin typeface="Consolas" panose="020B0609020204030204" pitchFamily="49" charset="0"/>
              </a:rPr>
              <a:t>93.088%</a:t>
            </a:r>
            <a:endParaRPr lang="en-US" altLang="en-US" sz="1200" b="1" dirty="0">
              <a:solidFill>
                <a:schemeClr val="tx2">
                  <a:lumMod val="50000"/>
                </a:schemeClr>
              </a:solidFill>
              <a:latin typeface="Consolas" panose="020B0609020204030204" pitchFamily="49" charset="0"/>
              <a:ea typeface="var(--jp-code-font-family)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494</Words>
  <Application>Microsoft Office PowerPoint</Application>
  <PresentationFormat>On-screen Show (16:9)</PresentationFormat>
  <Paragraphs>66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Montserrat</vt:lpstr>
      <vt:lpstr>Lato</vt:lpstr>
      <vt:lpstr>Consolas</vt:lpstr>
      <vt:lpstr>Arial</vt:lpstr>
      <vt:lpstr>Syncopate</vt:lpstr>
      <vt:lpstr>Focus</vt:lpstr>
      <vt:lpstr>NLP: Sentiment Analysis and Negative Tweet Reasoning</vt:lpstr>
      <vt:lpstr>Data Cleaning + Exploratory Analysis</vt:lpstr>
      <vt:lpstr>Model Preparation, Implementation, &amp; Results: Sentiment Analysis</vt:lpstr>
      <vt:lpstr>Model Preparation, Implementation, &amp; Results: Negative Reason Prediction</vt:lpstr>
      <vt:lpstr>Possible Improvements + Rebalancing Bonus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NLP: Sentiment Analysis and Negative Tweet Reasoning</dc:title>
  <dc:creator>Sam Atkins</dc:creator>
  <cp:lastModifiedBy>Sam Atkins</cp:lastModifiedBy>
  <cp:revision>6</cp:revision>
  <dcterms:modified xsi:type="dcterms:W3CDTF">2020-11-26T03:25:50Z</dcterms:modified>
</cp:coreProperties>
</file>